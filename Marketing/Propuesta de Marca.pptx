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67" r:id="rId5"/>
    <p:sldId id="263" r:id="rId6"/>
    <p:sldId id="268" r:id="rId7"/>
    <p:sldId id="257" r:id="rId8"/>
    <p:sldId id="260" r:id="rId9"/>
    <p:sldId id="262" r:id="rId10"/>
    <p:sldId id="266" r:id="rId11"/>
    <p:sldId id="259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F3C9DE-9DCB-5EFC-E2AF-2CCA641E62EB}" name="Carlos Javier Yaya" initials="CY" userId="981cbaefe64c343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80"/>
    <a:srgbClr val="D96846"/>
    <a:srgbClr val="5A4A99"/>
    <a:srgbClr val="2E7BB4"/>
    <a:srgbClr val="F4A261"/>
    <a:srgbClr val="9D84B7"/>
    <a:srgbClr val="1B9AAA"/>
    <a:srgbClr val="E67E5C"/>
    <a:srgbClr val="7B5FCF"/>
    <a:srgbClr val="0B4F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5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24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2602C-9703-FAFC-4027-16C81452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72F922-09BF-13B4-B137-AF91E0272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95ED02-6233-9ACB-8B85-F233B5A03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803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Autor y fecha</a:t>
            </a:r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fot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rimer plano de un globo aerostático visto desde abajo"/>
          <p:cNvSpPr>
            <a:spLocks noGrp="1"/>
          </p:cNvSpPr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Título de la diapositiva</a:t>
            </a:r>
          </a:p>
        </p:txBody>
      </p:sp>
      <p:sp>
        <p:nvSpPr>
          <p:cNvPr id="34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Subtítulo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01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ítulo de la diapositiva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43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de la diapositiva</a:t>
            </a:r>
          </a:p>
        </p:txBody>
      </p:sp>
      <p:sp>
        <p:nvSpPr>
          <p:cNvPr id="44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de la diapositiva</a:t>
            </a:r>
          </a:p>
        </p:txBody>
      </p:sp>
      <p:sp>
        <p:nvSpPr>
          <p:cNvPr id="61" name="Nivel de texto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Globos aerostáticos vistos desde abajo contra un cielo azul"/>
          <p:cNvSpPr>
            <a:spLocks noGrp="1"/>
          </p:cNvSpPr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6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víde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de la diapositiva</a:t>
            </a:r>
          </a:p>
        </p:txBody>
      </p:sp>
      <p:sp>
        <p:nvSpPr>
          <p:cNvPr id="72" name="Nivel de texto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7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víde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de la diapositiva</a:t>
            </a:r>
          </a:p>
        </p:txBody>
      </p:sp>
      <p:sp>
        <p:nvSpPr>
          <p:cNvPr id="82" name="Nivel de texto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8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ción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 de sección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de sección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100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de la diapositiva</a:t>
            </a:r>
          </a:p>
        </p:txBody>
      </p:sp>
      <p:sp>
        <p:nvSpPr>
          <p:cNvPr id="10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ítulo de agenda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Título de agenda</a:t>
            </a:r>
          </a:p>
        </p:txBody>
      </p:sp>
      <p:sp>
        <p:nvSpPr>
          <p:cNvPr id="109" name="Subtítulo de agend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Subtítulo de agenda</a:t>
            </a:r>
          </a:p>
        </p:txBody>
      </p:sp>
      <p:sp>
        <p:nvSpPr>
          <p:cNvPr id="110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Temas relacionados con la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ivel de texto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ato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ivel de texto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Información fáctic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Información fáctica</a:t>
            </a:r>
          </a:p>
        </p:txBody>
      </p:sp>
      <p:sp>
        <p:nvSpPr>
          <p:cNvPr id="12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ribució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Atribución</a:t>
            </a:r>
          </a:p>
        </p:txBody>
      </p:sp>
      <p:sp>
        <p:nvSpPr>
          <p:cNvPr id="136" name="Nivel de texto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 destacable”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lobos aerostáticos vistos desde abajo contra un cielo azul"/>
          <p:cNvSpPr>
            <a:spLocks noGrp="1"/>
          </p:cNvSpPr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Primer plano de la parte superior de un globo aerostático visto desde arriba"/>
          <p:cNvSpPr>
            <a:spLocks noGrp="1"/>
          </p:cNvSpPr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Globos aerostáticos vistos desde abajo contra un cielo azul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lobos aerostáticos vistos desde abajo contra un cielo azul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Título de la diapositiva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s.google.com/specimen/Courier+Prime?preview.text=Raccord%20es%20una%20plataformas%20en%20espa%C3%B1ol%20e%20ingles%20donde%20su%20foco%20son%20las%20productoras.&amp;query=Courier" TargetMode="External"/><Relationship Id="rId2" Type="http://schemas.openxmlformats.org/officeDocument/2006/relationships/hyperlink" Target="https://fonts.google.com/specimen/Montserrat?preview.text=Raccord%20es%20una%20plataformas%20en%20espa%C3%B1ol%20e%20ingles%20donde%20su%20foco%20son%20las%20productoras.&amp;query=Montserrat" TargetMode="Externa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3228973A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r>
              <a:t>3228973A</a:t>
            </a:r>
          </a:p>
        </p:txBody>
      </p:sp>
      <p:sp>
        <p:nvSpPr>
          <p:cNvPr id="172" name="Propuesta de Marca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Propuesta</a:t>
            </a:r>
            <a:r>
              <a:rPr dirty="0"/>
              <a:t> de Marca</a:t>
            </a:r>
          </a:p>
        </p:txBody>
      </p:sp>
      <p:sp>
        <p:nvSpPr>
          <p:cNvPr id="173" name="Carlos J. Yaya…"/>
          <p:cNvSpPr txBox="1">
            <a:spLocks noGrp="1"/>
          </p:cNvSpPr>
          <p:nvPr>
            <p:ph type="subTitle" sz="quarter" idx="1"/>
          </p:nvPr>
        </p:nvSpPr>
        <p:spPr>
          <a:xfrm>
            <a:off x="1201342" y="7223190"/>
            <a:ext cx="21971001" cy="2184401"/>
          </a:xfrm>
          <a:prstGeom prst="rect">
            <a:avLst/>
          </a:prstGeom>
        </p:spPr>
        <p:txBody>
          <a:bodyPr/>
          <a:lstStyle/>
          <a:p>
            <a:pPr defTabSz="511809">
              <a:defRPr sz="3409"/>
            </a:pPr>
            <a:r>
              <a:rPr dirty="0"/>
              <a:t>Carlos J. Yaya</a:t>
            </a:r>
          </a:p>
          <a:p>
            <a:pPr defTabSz="511809">
              <a:defRPr sz="3409"/>
            </a:pPr>
            <a:r>
              <a:rPr dirty="0"/>
              <a:t>Juan F. Cuevas</a:t>
            </a:r>
          </a:p>
          <a:p>
            <a:pPr defTabSz="511809">
              <a:defRPr sz="3409"/>
            </a:pPr>
            <a:r>
              <a:rPr dirty="0"/>
              <a:t>Andres C. Nieto</a:t>
            </a:r>
          </a:p>
          <a:p>
            <a:pPr defTabSz="511809">
              <a:defRPr sz="3409"/>
            </a:pPr>
            <a:r>
              <a:rPr dirty="0"/>
              <a:t>Daniel F. Rojas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DC96-877D-6B95-E88B-90740404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aleta de Colores">
            <a:extLst>
              <a:ext uri="{FF2B5EF4-FFF2-40B4-BE49-F238E27FC236}">
                <a16:creationId xmlns:a16="http://schemas.microsoft.com/office/drawing/2014/main" id="{ECEAA2D3-031E-8F4B-6C91-E58D135FA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1600" y="2717800"/>
            <a:ext cx="8940800" cy="1435100"/>
          </a:xfrm>
          <a:prstGeom prst="rect">
            <a:avLst/>
          </a:prstGeom>
        </p:spPr>
        <p:txBody>
          <a:bodyPr/>
          <a:lstStyle/>
          <a:p>
            <a:r>
              <a:rPr lang="es-CO" dirty="0"/>
              <a:t>Sobre Nosotros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561858-A0D8-C060-790D-827C7693179F}"/>
              </a:ext>
            </a:extLst>
          </p:cNvPr>
          <p:cNvSpPr txBox="1"/>
          <p:nvPr/>
        </p:nvSpPr>
        <p:spPr>
          <a:xfrm>
            <a:off x="5099050" y="4847357"/>
            <a:ext cx="14185900" cy="5124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2800" dirty="0"/>
              <a:t>Somos </a:t>
            </a:r>
            <a:r>
              <a:rPr lang="es-ES" sz="2800" dirty="0" err="1"/>
              <a:t>RACCORD</a:t>
            </a:r>
            <a:r>
              <a:rPr lang="es-ES" sz="2800" dirty="0"/>
              <a:t>, la primera plataforma integral que revoluciona la producción audiovisual en Latinoamérica.</a:t>
            </a:r>
          </a:p>
          <a:p>
            <a:pPr algn="just">
              <a:buNone/>
            </a:pPr>
            <a:r>
              <a:rPr lang="es-ES" sz="2800" dirty="0"/>
              <a:t>Combinamos escritura de guiones, desglose de producción y continuidad visual en una sola herramienta potenciada por inteligencia artificial. No somos otra herramienta más. Somos el puente entre la creatividad y la eficiencia, entre la visión artística y la ejecución impecable.</a:t>
            </a:r>
          </a:p>
          <a:p>
            <a:pPr algn="just">
              <a:buNone/>
            </a:pPr>
            <a:r>
              <a:rPr lang="es-ES" sz="2800" dirty="0"/>
              <a:t>Diseñada en Colombia para el mundo hispanohablante, </a:t>
            </a:r>
            <a:r>
              <a:rPr lang="es-ES" sz="2800" dirty="0" err="1"/>
              <a:t>RACCORD</a:t>
            </a:r>
            <a:r>
              <a:rPr lang="es-ES" sz="2800" dirty="0"/>
              <a:t> entiende que hacer cine es tanto arte, como oficio, tanto pasión, como precisión. Por eso, creamos una plataforma que respeta ambos: profesional sin ser fría, innovadora sin ser complicada y poderosa sin perder humanidad.</a:t>
            </a:r>
          </a:p>
        </p:txBody>
      </p:sp>
      <p:pic>
        <p:nvPicPr>
          <p:cNvPr id="9" name="Gráfico 8" descr="Usuarios con relleno sólido">
            <a:extLst>
              <a:ext uri="{FF2B5EF4-FFF2-40B4-BE49-F238E27FC236}">
                <a16:creationId xmlns:a16="http://schemas.microsoft.com/office/drawing/2014/main" id="{ADFC198F-5498-9270-6BF4-41ED68AAC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7700" y="5734050"/>
            <a:ext cx="2247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6839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28ED-698F-F734-9FD0-81D74EFA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aleta de Colores">
            <a:extLst>
              <a:ext uri="{FF2B5EF4-FFF2-40B4-BE49-F238E27FC236}">
                <a16:creationId xmlns:a16="http://schemas.microsoft.com/office/drawing/2014/main" id="{FC7F845E-0C92-DD58-C9F9-E2586616E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5500" y="3822700"/>
            <a:ext cx="4152900" cy="1435100"/>
          </a:xfrm>
          <a:prstGeom prst="rect">
            <a:avLst/>
          </a:prstGeom>
        </p:spPr>
        <p:txBody>
          <a:bodyPr/>
          <a:lstStyle/>
          <a:p>
            <a:r>
              <a:rPr lang="es-CO" dirty="0"/>
              <a:t>Misión</a:t>
            </a:r>
            <a:endParaRPr dirty="0"/>
          </a:p>
        </p:txBody>
      </p:sp>
      <p:sp>
        <p:nvSpPr>
          <p:cNvPr id="2" name="Paleta de Colores">
            <a:extLst>
              <a:ext uri="{FF2B5EF4-FFF2-40B4-BE49-F238E27FC236}">
                <a16:creationId xmlns:a16="http://schemas.microsoft.com/office/drawing/2014/main" id="{1DA8CF27-905C-FA03-6B86-7A254D42934F}"/>
              </a:ext>
            </a:extLst>
          </p:cNvPr>
          <p:cNvSpPr txBox="1">
            <a:spLocks/>
          </p:cNvSpPr>
          <p:nvPr/>
        </p:nvSpPr>
        <p:spPr>
          <a:xfrm>
            <a:off x="15087600" y="3822700"/>
            <a:ext cx="41529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s-CO" dirty="0"/>
              <a:t>Visión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7717A5-1B2C-2206-C189-9F6037EEB28A}"/>
              </a:ext>
            </a:extLst>
          </p:cNvPr>
          <p:cNvSpPr txBox="1"/>
          <p:nvPr/>
        </p:nvSpPr>
        <p:spPr>
          <a:xfrm>
            <a:off x="1511300" y="6382087"/>
            <a:ext cx="8394700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s-ES" sz="2800" dirty="0"/>
              <a:t>Liberar el potencial creativo de los equipos audiovisuales eliminando la fricción técnica. Cuando la tecnología gestiona los detalles, los equipos pueden enfocarse en lo que realmente importa: la magia de contar historias.</a:t>
            </a:r>
            <a:endParaRPr lang="en-GB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CA3FA5-F421-A686-8A65-154BC9F45A8B}"/>
              </a:ext>
            </a:extLst>
          </p:cNvPr>
          <p:cNvSpPr txBox="1"/>
          <p:nvPr/>
        </p:nvSpPr>
        <p:spPr>
          <a:xfrm>
            <a:off x="12192000" y="5460522"/>
            <a:ext cx="10185400" cy="47366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2800" dirty="0"/>
              <a:t>Para 2030, ser la plataforma líder en gestión de producción audiovisual en Latinoamérica, presente en el 70% de las producciones profesionales de habla hispana.</a:t>
            </a:r>
          </a:p>
          <a:p>
            <a:pPr algn="just">
              <a:buNone/>
            </a:pPr>
            <a:r>
              <a:rPr lang="es-ES" sz="2800" dirty="0"/>
              <a:t>Visualizamos un futuro donde ninguna producción pierde dinero por errores evitables, donde la IA asiste sin reemplazar el criterio creativo humano, y donde las barreras del idioma no limitan el acceso a herramientas de clase mundial.</a:t>
            </a:r>
          </a:p>
          <a:p>
            <a:pPr algn="just">
              <a:buNone/>
            </a:pPr>
            <a:r>
              <a:rPr lang="es-ES" sz="2800" dirty="0"/>
              <a:t>No solo queremos cambiar cómo se hacen el cine. Queremos cambiar quién puede hacerlas.</a:t>
            </a:r>
          </a:p>
        </p:txBody>
      </p:sp>
      <p:pic>
        <p:nvPicPr>
          <p:cNvPr id="11" name="Gráfico 10" descr="Cohete con relleno sólido">
            <a:extLst>
              <a:ext uri="{FF2B5EF4-FFF2-40B4-BE49-F238E27FC236}">
                <a16:creationId xmlns:a16="http://schemas.microsoft.com/office/drawing/2014/main" id="{9A1BDCE7-285C-601B-00F7-564CD811B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0049" y="1263314"/>
            <a:ext cx="1435099" cy="1435099"/>
          </a:xfrm>
          <a:prstGeom prst="rect">
            <a:avLst/>
          </a:prstGeom>
        </p:spPr>
      </p:pic>
      <p:pic>
        <p:nvPicPr>
          <p:cNvPr id="13" name="Gráfico 12" descr="Luces encendidas con relleno sólido">
            <a:extLst>
              <a:ext uri="{FF2B5EF4-FFF2-40B4-BE49-F238E27FC236}">
                <a16:creationId xmlns:a16="http://schemas.microsoft.com/office/drawing/2014/main" id="{EAA541A1-A928-817A-2B77-384DDC0D8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00401" y="1358563"/>
            <a:ext cx="1435099" cy="143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15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EDAD-A3C6-5C23-3EA8-4C337050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leta de Colores">
            <a:extLst>
              <a:ext uri="{FF2B5EF4-FFF2-40B4-BE49-F238E27FC236}">
                <a16:creationId xmlns:a16="http://schemas.microsoft.com/office/drawing/2014/main" id="{B5DFD529-9E68-567A-7E90-4BD4C10A1C48}"/>
              </a:ext>
            </a:extLst>
          </p:cNvPr>
          <p:cNvSpPr txBox="1">
            <a:spLocks/>
          </p:cNvSpPr>
          <p:nvPr/>
        </p:nvSpPr>
        <p:spPr>
          <a:xfrm>
            <a:off x="10115550" y="2489200"/>
            <a:ext cx="41529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s-CO" dirty="0"/>
              <a:t>Valores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61C108-51CD-4F66-F4DE-9026B158A834}"/>
              </a:ext>
            </a:extLst>
          </p:cNvPr>
          <p:cNvSpPr txBox="1"/>
          <p:nvPr/>
        </p:nvSpPr>
        <p:spPr>
          <a:xfrm>
            <a:off x="6845300" y="4756487"/>
            <a:ext cx="11607800" cy="53045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s-CO" sz="2800" b="1" noProof="0" dirty="0"/>
              <a:t>Precisión con Propósito </a:t>
            </a:r>
            <a:r>
              <a:rPr lang="es-CO" sz="2800" noProof="0" dirty="0"/>
              <a:t>: Cada </a:t>
            </a:r>
            <a:r>
              <a:rPr lang="es-CO" sz="2800" noProof="0" dirty="0" err="1"/>
              <a:t>frame</a:t>
            </a:r>
            <a:r>
              <a:rPr lang="es-CO" sz="2800" noProof="0" dirty="0"/>
              <a:t> cuenta, cada detalle importa. </a:t>
            </a:r>
          </a:p>
          <a:p>
            <a:pPr algn="just"/>
            <a:r>
              <a:rPr lang="es-CO" sz="2800" b="1" noProof="0" dirty="0"/>
              <a:t>Innovación: </a:t>
            </a:r>
            <a:r>
              <a:rPr lang="es-CO" sz="2800" noProof="0" dirty="0"/>
              <a:t>Complejidad técnica, simplicidad de uso.</a:t>
            </a:r>
          </a:p>
          <a:p>
            <a:pPr algn="just"/>
            <a:r>
              <a:rPr lang="es-CO" sz="2800" b="1" noProof="0" dirty="0"/>
              <a:t>Colaboración: </a:t>
            </a:r>
            <a:r>
              <a:rPr lang="es-CO" sz="2800" noProof="0" dirty="0"/>
              <a:t>El cine es equipo.</a:t>
            </a:r>
          </a:p>
          <a:p>
            <a:pPr algn="just"/>
            <a:r>
              <a:rPr lang="es-CO" sz="2800" b="1" noProof="0" dirty="0"/>
              <a:t>Excelencia : </a:t>
            </a:r>
            <a:r>
              <a:rPr lang="es-CO" sz="2800" noProof="0" dirty="0"/>
              <a:t>Construimos para durar.</a:t>
            </a:r>
          </a:p>
          <a:p>
            <a:pPr algn="just"/>
            <a:r>
              <a:rPr lang="es-CO" sz="2800" b="1" noProof="0" dirty="0"/>
              <a:t>Latinoamérica primero: </a:t>
            </a:r>
            <a:r>
              <a:rPr lang="es-CO" sz="2800" noProof="0" dirty="0"/>
              <a:t>No somos traducción, somos nativos</a:t>
            </a:r>
          </a:p>
          <a:p>
            <a:pPr algn="just"/>
            <a:endParaRPr lang="en-GB" sz="2800" dirty="0"/>
          </a:p>
        </p:txBody>
      </p:sp>
      <p:pic>
        <p:nvPicPr>
          <p:cNvPr id="13" name="Gráfico 12" descr="Diamante con relleno sólido">
            <a:extLst>
              <a:ext uri="{FF2B5EF4-FFF2-40B4-BE49-F238E27FC236}">
                <a16:creationId xmlns:a16="http://schemas.microsoft.com/office/drawing/2014/main" id="{4D2FAB02-AD6A-2CDB-C430-C04F15593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300" y="5880100"/>
            <a:ext cx="19558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4057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818A-360B-277B-B7E3-087FC0A82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aleta de Colores">
            <a:extLst>
              <a:ext uri="{FF2B5EF4-FFF2-40B4-BE49-F238E27FC236}">
                <a16:creationId xmlns:a16="http://schemas.microsoft.com/office/drawing/2014/main" id="{89520BD5-CC72-C181-C040-F19678CF9F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CO" dirty="0"/>
              <a:t>Logo</a:t>
            </a:r>
            <a:endParaRPr dirty="0"/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8BD6C4DD-0F26-A5D1-1312-A79C827B8F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51" y="2193251"/>
            <a:ext cx="4664749" cy="46647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065A64C-EE88-B0BA-4C98-6CF68698F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78" b="42633"/>
          <a:stretch>
            <a:fillRect/>
          </a:stretch>
        </p:blipFill>
        <p:spPr>
          <a:xfrm>
            <a:off x="361328" y="8127996"/>
            <a:ext cx="8985820" cy="2946402"/>
          </a:xfrm>
          <a:prstGeom prst="rect">
            <a:avLst/>
          </a:prstGeom>
        </p:spPr>
      </p:pic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5E21CE5-09BC-ED86-92AA-BCA793A4C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89" b="29623"/>
          <a:stretch>
            <a:fillRect/>
          </a:stretch>
        </p:blipFill>
        <p:spPr>
          <a:xfrm>
            <a:off x="15598626" y="7772398"/>
            <a:ext cx="8142782" cy="3060700"/>
          </a:xfrm>
          <a:prstGeom prst="rect">
            <a:avLst/>
          </a:prstGeom>
        </p:spPr>
      </p:pic>
      <p:pic>
        <p:nvPicPr>
          <p:cNvPr id="9" name="Imagen 8" descr="Imagen que contiene luz&#10;&#10;El contenido generado por IA puede ser incorrecto.">
            <a:extLst>
              <a:ext uri="{FF2B5EF4-FFF2-40B4-BE49-F238E27FC236}">
                <a16:creationId xmlns:a16="http://schemas.microsoft.com/office/drawing/2014/main" id="{C6C77AC7-F1ED-4A5D-47BD-E47E1FA1C3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1" b="38919"/>
          <a:stretch>
            <a:fillRect/>
          </a:stretch>
        </p:blipFill>
        <p:spPr>
          <a:xfrm>
            <a:off x="627976" y="2885261"/>
            <a:ext cx="8719172" cy="3533035"/>
          </a:xfrm>
          <a:prstGeom prst="rect">
            <a:avLst/>
          </a:prstGeom>
        </p:spPr>
      </p:pic>
      <p:pic>
        <p:nvPicPr>
          <p:cNvPr id="11" name="Imagen 10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0BA6F20-E0A2-B17B-06B5-4C7120EB7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71" b="25107"/>
          <a:stretch>
            <a:fillRect/>
          </a:stretch>
        </p:blipFill>
        <p:spPr>
          <a:xfrm>
            <a:off x="15140889" y="3205014"/>
            <a:ext cx="8380521" cy="3060700"/>
          </a:xfrm>
          <a:prstGeom prst="rect">
            <a:avLst/>
          </a:prstGeom>
        </p:spPr>
      </p:pic>
      <p:pic>
        <p:nvPicPr>
          <p:cNvPr id="13" name="Imagen 12" descr="Forma&#10;&#10;El contenido generado por IA puede ser incorrecto.">
            <a:extLst>
              <a:ext uri="{FF2B5EF4-FFF2-40B4-BE49-F238E27FC236}">
                <a16:creationId xmlns:a16="http://schemas.microsoft.com/office/drawing/2014/main" id="{123A2B59-8833-0FC2-D389-EBEB62BA42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483" y="7527538"/>
            <a:ext cx="4147317" cy="41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125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EC096-BB95-2F3D-1B7B-3D803538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leta de Colores">
            <a:extLst>
              <a:ext uri="{FF2B5EF4-FFF2-40B4-BE49-F238E27FC236}">
                <a16:creationId xmlns:a16="http://schemas.microsoft.com/office/drawing/2014/main" id="{1CF98C1F-5590-6FC9-42AE-E65015A512CB}"/>
              </a:ext>
            </a:extLst>
          </p:cNvPr>
          <p:cNvSpPr txBox="1">
            <a:spLocks/>
          </p:cNvSpPr>
          <p:nvPr/>
        </p:nvSpPr>
        <p:spPr>
          <a:xfrm>
            <a:off x="1206500" y="952500"/>
            <a:ext cx="219710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1" i="0" u="none" strike="noStrike" cap="none" spc="-232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s-CO" dirty="0"/>
              <a:t>Variaciones Logo</a:t>
            </a:r>
          </a:p>
        </p:txBody>
      </p:sp>
      <p:pic>
        <p:nvPicPr>
          <p:cNvPr id="10" name="Imagen 9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ACC78BC-1CEF-8949-658C-0B365F764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73" b="24805"/>
          <a:stretch>
            <a:fillRect/>
          </a:stretch>
        </p:blipFill>
        <p:spPr>
          <a:xfrm>
            <a:off x="14795500" y="3683000"/>
            <a:ext cx="8108146" cy="3009899"/>
          </a:xfrm>
          <a:prstGeom prst="rect">
            <a:avLst/>
          </a:prstGeom>
        </p:spPr>
      </p:pic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C580229D-8C05-7E08-E849-6EE4776CDC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284" y="3092573"/>
            <a:ext cx="4502917" cy="4502917"/>
          </a:xfrm>
          <a:prstGeom prst="rect">
            <a:avLst/>
          </a:prstGeom>
        </p:spPr>
      </p:pic>
      <p:pic>
        <p:nvPicPr>
          <p:cNvPr id="14" name="Imagen 13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BBAB6958-59B0-988A-E1A9-919B74C91D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066" y="7449562"/>
            <a:ext cx="4764034" cy="4764034"/>
          </a:xfrm>
          <a:prstGeom prst="rect">
            <a:avLst/>
          </a:prstGeom>
        </p:spPr>
      </p:pic>
      <p:pic>
        <p:nvPicPr>
          <p:cNvPr id="18" name="Imagen 17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7ECAA96E-78CB-BB6D-F5D2-34A28CA4BE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43" b="31961"/>
          <a:stretch>
            <a:fillRect/>
          </a:stretch>
        </p:blipFill>
        <p:spPr>
          <a:xfrm>
            <a:off x="14649896" y="8724902"/>
            <a:ext cx="9481637" cy="2863082"/>
          </a:xfrm>
          <a:prstGeom prst="rect">
            <a:avLst/>
          </a:prstGeom>
        </p:spPr>
      </p:pic>
      <p:pic>
        <p:nvPicPr>
          <p:cNvPr id="20" name="Imagen 19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761A2B1-4CAC-92ED-0626-2D91C0551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87" b="30323"/>
          <a:stretch>
            <a:fillRect/>
          </a:stretch>
        </p:blipFill>
        <p:spPr>
          <a:xfrm>
            <a:off x="1206500" y="8801100"/>
            <a:ext cx="7746392" cy="2540000"/>
          </a:xfrm>
          <a:prstGeom prst="rect">
            <a:avLst/>
          </a:prstGeom>
        </p:spPr>
      </p:pic>
      <p:pic>
        <p:nvPicPr>
          <p:cNvPr id="22" name="Imagen 2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1E3750A-C4EC-3A18-9752-9187B34ABF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6" b="36404"/>
          <a:stretch>
            <a:fillRect/>
          </a:stretch>
        </p:blipFill>
        <p:spPr>
          <a:xfrm>
            <a:off x="812668" y="4151120"/>
            <a:ext cx="8140224" cy="329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535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adroTexto 30">
            <a:extLst>
              <a:ext uri="{FF2B5EF4-FFF2-40B4-BE49-F238E27FC236}">
                <a16:creationId xmlns:a16="http://schemas.microsoft.com/office/drawing/2014/main" id="{943115ED-3520-D7AD-A98D-B3211C2EE117}"/>
              </a:ext>
            </a:extLst>
          </p:cNvPr>
          <p:cNvSpPr txBox="1"/>
          <p:nvPr/>
        </p:nvSpPr>
        <p:spPr>
          <a:xfrm>
            <a:off x="1792599" y="4472778"/>
            <a:ext cx="9820527" cy="10120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2400" dirty="0">
                <a:latin typeface="Amasis MT Pro" panose="02040504050005020304" pitchFamily="18" charset="0"/>
              </a:rPr>
              <a:t>#0A0A0A       </a:t>
            </a:r>
            <a:r>
              <a:rPr lang="en-GB" sz="2400" dirty="0">
                <a:latin typeface="Amasis MT Pro" panose="02040504050005020304" pitchFamily="18" charset="0"/>
              </a:rPr>
              <a:t>#6B6B6B          </a:t>
            </a:r>
            <a:r>
              <a:rPr kumimoji="0" lang="en-GB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masis MT Pro" panose="02040504050005020304" pitchFamily="18" charset="0"/>
                <a:sym typeface="Helvetica Neue"/>
              </a:rPr>
              <a:t>#0B4F8A         #7B5FCF         #E67E5C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84AA221-B809-6B7D-A383-9F5A572DB3E1}"/>
              </a:ext>
            </a:extLst>
          </p:cNvPr>
          <p:cNvGrpSpPr/>
          <p:nvPr/>
        </p:nvGrpSpPr>
        <p:grpSpPr>
          <a:xfrm>
            <a:off x="1431225" y="7404429"/>
            <a:ext cx="6026157" cy="720000"/>
            <a:chOff x="212025" y="4220714"/>
            <a:chExt cx="6026157" cy="720000"/>
          </a:xfrm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E47A4209-1169-7369-6E90-89593F64CC05}"/>
                </a:ext>
              </a:extLst>
            </p:cNvPr>
            <p:cNvSpPr/>
            <p:nvPr/>
          </p:nvSpPr>
          <p:spPr>
            <a:xfrm>
              <a:off x="212025" y="4220714"/>
              <a:ext cx="2197194" cy="720000"/>
            </a:xfrm>
            <a:prstGeom prst="roundRect">
              <a:avLst/>
            </a:prstGeom>
            <a:solidFill>
              <a:srgbClr val="2C2C2C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7" name="Rectángulo: esquinas redondeadas 36">
              <a:extLst>
                <a:ext uri="{FF2B5EF4-FFF2-40B4-BE49-F238E27FC236}">
                  <a16:creationId xmlns:a16="http://schemas.microsoft.com/office/drawing/2014/main" id="{76B86C13-DE9B-B4DE-AEAC-0D61C6EE013E}"/>
                </a:ext>
              </a:extLst>
            </p:cNvPr>
            <p:cNvSpPr/>
            <p:nvPr/>
          </p:nvSpPr>
          <p:spPr>
            <a:xfrm>
              <a:off x="4042182" y="4220714"/>
              <a:ext cx="2196000" cy="720000"/>
            </a:xfrm>
            <a:prstGeom prst="roundRect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0E96B18C-0F9C-24BF-9716-09B47364E586}"/>
                </a:ext>
              </a:extLst>
            </p:cNvPr>
            <p:cNvSpPr/>
            <p:nvPr/>
          </p:nvSpPr>
          <p:spPr>
            <a:xfrm>
              <a:off x="2160180" y="4220714"/>
              <a:ext cx="2016000" cy="720000"/>
            </a:xfrm>
            <a:prstGeom prst="rect">
              <a:avLst/>
            </a:prstGeom>
            <a:solidFill>
              <a:srgbClr val="FAFAF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95FDD611-A256-9A38-B1EB-183C47090D38}"/>
              </a:ext>
            </a:extLst>
          </p:cNvPr>
          <p:cNvGrpSpPr/>
          <p:nvPr/>
        </p:nvGrpSpPr>
        <p:grpSpPr>
          <a:xfrm>
            <a:off x="1431225" y="10355940"/>
            <a:ext cx="6026157" cy="720000"/>
            <a:chOff x="212025" y="4220714"/>
            <a:chExt cx="6026157" cy="720000"/>
          </a:xfrm>
        </p:grpSpPr>
        <p:sp>
          <p:nvSpPr>
            <p:cNvPr id="54" name="Rectángulo: esquinas redondeadas 53">
              <a:extLst>
                <a:ext uri="{FF2B5EF4-FFF2-40B4-BE49-F238E27FC236}">
                  <a16:creationId xmlns:a16="http://schemas.microsoft.com/office/drawing/2014/main" id="{14582949-A9BA-D2B0-4554-BA94F4D9CE52}"/>
                </a:ext>
              </a:extLst>
            </p:cNvPr>
            <p:cNvSpPr/>
            <p:nvPr/>
          </p:nvSpPr>
          <p:spPr>
            <a:xfrm>
              <a:off x="212025" y="4220714"/>
              <a:ext cx="2197194" cy="720000"/>
            </a:xfrm>
            <a:prstGeom prst="roundRect">
              <a:avLst/>
            </a:prstGeom>
            <a:solidFill>
              <a:srgbClr val="3D997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1AD26EFB-7FE7-6644-A58E-78AEDCDA62F5}"/>
                </a:ext>
              </a:extLst>
            </p:cNvPr>
            <p:cNvSpPr/>
            <p:nvPr/>
          </p:nvSpPr>
          <p:spPr>
            <a:xfrm>
              <a:off x="4042182" y="4220714"/>
              <a:ext cx="2196000" cy="720000"/>
            </a:xfrm>
            <a:prstGeom prst="roundRect">
              <a:avLst/>
            </a:prstGeom>
            <a:solidFill>
              <a:srgbClr val="C64545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23B99ECD-8BE3-9E09-C19B-0893893D79A4}"/>
                </a:ext>
              </a:extLst>
            </p:cNvPr>
            <p:cNvSpPr/>
            <p:nvPr/>
          </p:nvSpPr>
          <p:spPr>
            <a:xfrm>
              <a:off x="2160180" y="4220714"/>
              <a:ext cx="2016000" cy="720000"/>
            </a:xfrm>
            <a:prstGeom prst="rect">
              <a:avLst/>
            </a:prstGeom>
            <a:solidFill>
              <a:srgbClr val="F2A34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37A80B7-3198-0C2C-BD38-F7A1A8316256}"/>
              </a:ext>
            </a:extLst>
          </p:cNvPr>
          <p:cNvSpPr txBox="1"/>
          <p:nvPr/>
        </p:nvSpPr>
        <p:spPr>
          <a:xfrm>
            <a:off x="1665599" y="7618393"/>
            <a:ext cx="5791783" cy="10120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2400" dirty="0">
                <a:latin typeface="Amasis MT Pro" panose="02040504050005020304" pitchFamily="18" charset="0"/>
              </a:rPr>
              <a:t>#2C2C2C        </a:t>
            </a:r>
            <a:r>
              <a:rPr lang="en-GB" sz="2400" dirty="0">
                <a:latin typeface="Amasis MT Pro" panose="02040504050005020304" pitchFamily="18" charset="0"/>
              </a:rPr>
              <a:t>#FAFAFA          </a:t>
            </a:r>
            <a:r>
              <a:rPr kumimoji="0" lang="en-GB" sz="2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masis MT Pro" panose="02040504050005020304" pitchFamily="18" charset="0"/>
                <a:sym typeface="Helvetica Neue"/>
              </a:rPr>
              <a:t>#E8E8E8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25F967C-D636-3420-6C34-7A92B4053722}"/>
              </a:ext>
            </a:extLst>
          </p:cNvPr>
          <p:cNvSpPr txBox="1"/>
          <p:nvPr/>
        </p:nvSpPr>
        <p:spPr>
          <a:xfrm>
            <a:off x="1792599" y="10569904"/>
            <a:ext cx="5664784" cy="10120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2400" dirty="0">
                <a:latin typeface="Amasis MT Pro" panose="02040504050005020304" pitchFamily="18" charset="0"/>
              </a:rPr>
              <a:t>#3D9970         </a:t>
            </a:r>
            <a:r>
              <a:rPr lang="en-GB" sz="2400" dirty="0">
                <a:latin typeface="Amasis MT Pro" panose="02040504050005020304" pitchFamily="18" charset="0"/>
              </a:rPr>
              <a:t>#F2A341           #C64545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AC457F3E-D5E5-14F9-BC74-88EEC2B22BED}"/>
              </a:ext>
            </a:extLst>
          </p:cNvPr>
          <p:cNvCxnSpPr>
            <a:cxnSpLocks/>
          </p:cNvCxnSpPr>
          <p:nvPr/>
        </p:nvCxnSpPr>
        <p:spPr>
          <a:xfrm>
            <a:off x="12268200" y="2857500"/>
            <a:ext cx="0" cy="1008380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9C68D2DD-2545-1D50-8F3B-52BD9BF25949}"/>
              </a:ext>
            </a:extLst>
          </p:cNvPr>
          <p:cNvSpPr txBox="1"/>
          <p:nvPr/>
        </p:nvSpPr>
        <p:spPr>
          <a:xfrm>
            <a:off x="1393194" y="2775865"/>
            <a:ext cx="5786920" cy="11228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Colores Principales</a:t>
            </a:r>
            <a:endParaRPr kumimoji="0" lang="en-GB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31" name="Paleta de Colores">
            <a:extLst>
              <a:ext uri="{FF2B5EF4-FFF2-40B4-BE49-F238E27FC236}">
                <a16:creationId xmlns:a16="http://schemas.microsoft.com/office/drawing/2014/main" id="{F1F3F8A6-2B68-A18E-415F-2E1A7AA71407}"/>
              </a:ext>
            </a:extLst>
          </p:cNvPr>
          <p:cNvSpPr txBox="1">
            <a:spLocks/>
          </p:cNvSpPr>
          <p:nvPr/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chemeClr val="accent1">
                    <a:hueOff val="114395"/>
                    <a:lumOff val="-24975"/>
                  </a:schemeClr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/>
              <a:t>Paleta de Colores</a:t>
            </a:r>
            <a:endParaRPr lang="en-GB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A6254224-0857-99FC-FCCC-B2DDF85A70E5}"/>
              </a:ext>
            </a:extLst>
          </p:cNvPr>
          <p:cNvSpPr txBox="1"/>
          <p:nvPr/>
        </p:nvSpPr>
        <p:spPr>
          <a:xfrm>
            <a:off x="1393194" y="5888975"/>
            <a:ext cx="5786920" cy="11228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Colores Secundarios</a:t>
            </a:r>
            <a:endParaRPr kumimoji="0" lang="en-GB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BC46146F-381E-DF56-F680-774A31213BBF}"/>
              </a:ext>
            </a:extLst>
          </p:cNvPr>
          <p:cNvSpPr txBox="1"/>
          <p:nvPr/>
        </p:nvSpPr>
        <p:spPr>
          <a:xfrm>
            <a:off x="1393194" y="8983790"/>
            <a:ext cx="5786920" cy="11228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Colores Funcionales</a:t>
            </a:r>
            <a:endParaRPr kumimoji="0" lang="en-GB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78378C4F-DC24-2FDE-4CC8-1193AAAB533A}"/>
              </a:ext>
            </a:extLst>
          </p:cNvPr>
          <p:cNvGrpSpPr/>
          <p:nvPr/>
        </p:nvGrpSpPr>
        <p:grpSpPr>
          <a:xfrm>
            <a:off x="1441303" y="4283607"/>
            <a:ext cx="9861557" cy="720000"/>
            <a:chOff x="212025" y="4220714"/>
            <a:chExt cx="9861557" cy="720000"/>
          </a:xfrm>
        </p:grpSpPr>
        <p:sp>
          <p:nvSpPr>
            <p:cNvPr id="137" name="Rectángulo: esquinas redondeadas 136">
              <a:extLst>
                <a:ext uri="{FF2B5EF4-FFF2-40B4-BE49-F238E27FC236}">
                  <a16:creationId xmlns:a16="http://schemas.microsoft.com/office/drawing/2014/main" id="{D59F2147-8A9F-EEF5-E4E4-75632DC78537}"/>
                </a:ext>
              </a:extLst>
            </p:cNvPr>
            <p:cNvSpPr/>
            <p:nvPr/>
          </p:nvSpPr>
          <p:spPr>
            <a:xfrm>
              <a:off x="212025" y="4220714"/>
              <a:ext cx="2197194" cy="720000"/>
            </a:xfrm>
            <a:prstGeom prst="roundRect">
              <a:avLst/>
            </a:prstGeom>
            <a:solidFill>
              <a:srgbClr val="0A0A0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8" name="Rectángulo: esquinas redondeadas 137">
              <a:extLst>
                <a:ext uri="{FF2B5EF4-FFF2-40B4-BE49-F238E27FC236}">
                  <a16:creationId xmlns:a16="http://schemas.microsoft.com/office/drawing/2014/main" id="{2E5BFFCE-1B8F-0364-B4EA-861715DBE824}"/>
                </a:ext>
              </a:extLst>
            </p:cNvPr>
            <p:cNvSpPr/>
            <p:nvPr/>
          </p:nvSpPr>
          <p:spPr>
            <a:xfrm>
              <a:off x="7877582" y="4220714"/>
              <a:ext cx="2196000" cy="720000"/>
            </a:xfrm>
            <a:prstGeom prst="roundRect">
              <a:avLst/>
            </a:prstGeom>
            <a:solidFill>
              <a:srgbClr val="E67E5C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79066F32-A8E9-3957-56A4-C5E700299204}"/>
                </a:ext>
              </a:extLst>
            </p:cNvPr>
            <p:cNvSpPr/>
            <p:nvPr/>
          </p:nvSpPr>
          <p:spPr>
            <a:xfrm>
              <a:off x="2160180" y="4220714"/>
              <a:ext cx="2016000" cy="720000"/>
            </a:xfrm>
            <a:prstGeom prst="rect">
              <a:avLst/>
            </a:prstGeom>
            <a:solidFill>
              <a:srgbClr val="6B6B6B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7B5B0C20-36DA-6DB0-6072-30C3C625ECE4}"/>
                </a:ext>
              </a:extLst>
            </p:cNvPr>
            <p:cNvSpPr/>
            <p:nvPr/>
          </p:nvSpPr>
          <p:spPr>
            <a:xfrm>
              <a:off x="4170680" y="4220714"/>
              <a:ext cx="2016000" cy="720000"/>
            </a:xfrm>
            <a:prstGeom prst="rect">
              <a:avLst/>
            </a:prstGeom>
            <a:solidFill>
              <a:srgbClr val="0B4F8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41" name="Rectángulo 140">
              <a:extLst>
                <a:ext uri="{FF2B5EF4-FFF2-40B4-BE49-F238E27FC236}">
                  <a16:creationId xmlns:a16="http://schemas.microsoft.com/office/drawing/2014/main" id="{EB547506-8822-B783-0611-3073759DB4B1}"/>
                </a:ext>
              </a:extLst>
            </p:cNvPr>
            <p:cNvSpPr/>
            <p:nvPr/>
          </p:nvSpPr>
          <p:spPr>
            <a:xfrm>
              <a:off x="6180140" y="4220714"/>
              <a:ext cx="2016000" cy="720000"/>
            </a:xfrm>
            <a:prstGeom prst="rect">
              <a:avLst/>
            </a:prstGeom>
            <a:solidFill>
              <a:srgbClr val="7B5FC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738F7F34-A21D-5D6F-156C-8E86730840D1}"/>
              </a:ext>
            </a:extLst>
          </p:cNvPr>
          <p:cNvSpPr txBox="1"/>
          <p:nvPr/>
        </p:nvSpPr>
        <p:spPr>
          <a:xfrm>
            <a:off x="13041493" y="3898736"/>
            <a:ext cx="9901204" cy="76972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Azul Profundo : 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Confianza: El color #1 para </a:t>
            </a:r>
            <a:r>
              <a:rPr lang="es-E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/finanzas (IBM, PayPal, LinkedIn) | Seguridad: "Tus datos están seguros con nosotros” | Profesionalismo: Serio sin ser aburrido. | Estabilidad: No somos una startup que desaparecerá mañana.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Estudios de producción valoran confiabilidad (trabajan con millones de pesos) script supervisores necesitan herramienta estable (no puede fallar en rodaje), se usará principalmente en (</a:t>
            </a:r>
            <a:r>
              <a:rPr lang="es-E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h1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s-E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headers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principales, navegación, elementos que requieren autoridad.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MORADO : 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Innovación: Color de disrupción </a:t>
            </a:r>
            <a:r>
              <a:rPr lang="es-E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s-E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Twitch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s-E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Yahoo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Roku). | Creatividad: Perfecto para industria audiovisual. | Visionario: "Estamos adelantados al futuro" |Premium: Históricamente color de realeza/lujo | Único: Poco común.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Somos la primera plataforma integral con IA para continuidad en la Industria creativa (cine/TV), la industria valora la innovación.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CORAL: 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Energía controlada: Cálido sin ser agresivo | Accesibilidad: "Somos humanos, no solo máquinas” | Acción: "Haz clic aquí" | Pasión por el cine: Calidez de la industria creativa | Amigable: Balance entre profesional y cercano.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Humaniza la paleta (sin esto sería muy fría) Industria audiovisual es apasionada - el coral refleja eso Contrarresta el azul/morado fríos Transmite: "Somos </a:t>
            </a:r>
            <a:r>
              <a:rPr lang="es-E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</a:t>
            </a:r>
            <a:r>
              <a:rPr lang="es-E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, pero entendemos tus procesos creativos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4D6CD-7443-764E-710F-29132CDB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aleta de Colores">
            <a:extLst>
              <a:ext uri="{FF2B5EF4-FFF2-40B4-BE49-F238E27FC236}">
                <a16:creationId xmlns:a16="http://schemas.microsoft.com/office/drawing/2014/main" id="{3730D47F-48F0-950C-00C3-5E150DDE2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CO" dirty="0"/>
              <a:t>Referencias</a:t>
            </a:r>
            <a:endParaRPr dirty="0"/>
          </a:p>
        </p:txBody>
      </p:sp>
      <p:pic>
        <p:nvPicPr>
          <p:cNvPr id="7" name="Imagen 6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EA1F4E8E-210C-5291-FFAD-9A86FCCB5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17" y="3374566"/>
            <a:ext cx="11836083" cy="7928435"/>
          </a:xfrm>
          <a:prstGeom prst="rect">
            <a:avLst/>
          </a:prstGeom>
        </p:spPr>
      </p:pic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22C129D-4429-C79A-527B-1E9292FB7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374567"/>
            <a:ext cx="10629247" cy="792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6975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AB3A-E968-0D2B-7364-F6F1FD1F4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aleta de Colores">
            <a:extLst>
              <a:ext uri="{FF2B5EF4-FFF2-40B4-BE49-F238E27FC236}">
                <a16:creationId xmlns:a16="http://schemas.microsoft.com/office/drawing/2014/main" id="{264E5263-2077-2BD6-2B7C-4015996166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79500" y="698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rPr lang="es-CO" dirty="0"/>
              <a:t>Fuentes / Caligrafía</a:t>
            </a:r>
            <a:endParaRPr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55BFF9-429F-4626-689B-18B0298033E4}"/>
              </a:ext>
            </a:extLst>
          </p:cNvPr>
          <p:cNvSpPr txBox="1"/>
          <p:nvPr/>
        </p:nvSpPr>
        <p:spPr>
          <a:xfrm>
            <a:off x="1714500" y="5512665"/>
            <a:ext cx="352500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48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 panose="00000500000000000000" pitchFamily="2" charset="0"/>
                <a:sym typeface="Helvetica Neue"/>
                <a:hlinkClick r:id="rId2"/>
              </a:rPr>
              <a:t>Montserrat</a:t>
            </a:r>
            <a:endParaRPr kumimoji="0" lang="en-GB" sz="4800" b="0" i="0" u="sng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ontserrat" panose="00000500000000000000" pitchFamily="2" charset="0"/>
              <a:sym typeface="Helvetica Neue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AB14C4-6CE1-F0CB-BAA6-0667B69ED2CD}"/>
              </a:ext>
            </a:extLst>
          </p:cNvPr>
          <p:cNvSpPr txBox="1"/>
          <p:nvPr/>
        </p:nvSpPr>
        <p:spPr>
          <a:xfrm>
            <a:off x="6007100" y="4427845"/>
            <a:ext cx="2975173" cy="40729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3000" dirty="0">
                <a:latin typeface="Montserrat SemiBold" panose="020F0502020204030204" pitchFamily="2" charset="0"/>
              </a:rPr>
              <a:t>Títulos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 Medium" panose="020F0502020204030204" pitchFamily="2" charset="0"/>
                <a:sym typeface="Helvetica Neue"/>
              </a:rPr>
              <a:t>Subtítulos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3000" dirty="0">
                <a:latin typeface="Montserrat regular" panose="00000500000000000000" pitchFamily="2" charset="0"/>
              </a:rPr>
              <a:t>Cuerpo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 Light" panose="00000400000000000000" pitchFamily="2" charset="0"/>
                <a:sym typeface="Helvetica Neue"/>
              </a:rPr>
              <a:t>Texto pequeño</a:t>
            </a:r>
            <a:endParaRPr kumimoji="0" lang="en-GB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ontserrat Light" panose="00000400000000000000" pitchFamily="2" charset="0"/>
              <a:sym typeface="Helvetica Neue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F9BD3B3-0AA5-5DE4-D814-3F30F3EBE6CB}"/>
              </a:ext>
            </a:extLst>
          </p:cNvPr>
          <p:cNvCxnSpPr/>
          <p:nvPr/>
        </p:nvCxnSpPr>
        <p:spPr>
          <a:xfrm>
            <a:off x="12192000" y="2552700"/>
            <a:ext cx="0" cy="9207500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22D7EE6-4E85-2335-1EAB-92CA61EB9F3F}"/>
              </a:ext>
            </a:extLst>
          </p:cNvPr>
          <p:cNvSpPr txBox="1"/>
          <p:nvPr/>
        </p:nvSpPr>
        <p:spPr>
          <a:xfrm>
            <a:off x="12890500" y="5512664"/>
            <a:ext cx="5264262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48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Prime bold" panose="00000809000000000000" pitchFamily="49" charset="0"/>
                <a:sym typeface="Helvetica Neue"/>
                <a:hlinkClick r:id="rId3"/>
              </a:rPr>
              <a:t>Courier Prime </a:t>
            </a:r>
            <a:endParaRPr kumimoji="0" lang="en-GB" sz="4800" b="0" i="0" u="sng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urier Prime bold" panose="00000809000000000000" pitchFamily="49" charset="0"/>
              <a:sym typeface="Helvetica Neue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7478E8B-2D59-E275-2FD5-5E8E62F1AB8D}"/>
              </a:ext>
            </a:extLst>
          </p:cNvPr>
          <p:cNvSpPr txBox="1"/>
          <p:nvPr/>
        </p:nvSpPr>
        <p:spPr>
          <a:xfrm>
            <a:off x="18491200" y="5758564"/>
            <a:ext cx="5651498" cy="12336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2000" dirty="0">
                <a:latin typeface="Courier Prime light"/>
              </a:rPr>
              <a:t>Este formato se usa solo en guiones o desgloses.</a:t>
            </a:r>
            <a:endParaRPr kumimoji="0" lang="en-GB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urier Prime light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871986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D558-2832-8404-BB8B-ED3C1041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aleta de Colores">
            <a:extLst>
              <a:ext uri="{FF2B5EF4-FFF2-40B4-BE49-F238E27FC236}">
                <a16:creationId xmlns:a16="http://schemas.microsoft.com/office/drawing/2014/main" id="{79F78128-BBE2-88BB-1F3B-CE18C4C7DE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CO" dirty="0"/>
              <a:t>Muestra Publicitaria</a:t>
            </a:r>
            <a:endParaRPr dirty="0"/>
          </a:p>
        </p:txBody>
      </p:sp>
      <p:pic>
        <p:nvPicPr>
          <p:cNvPr id="3" name="Imagen 2" descr="Imagen que contiene Carta&#10;&#10;El contenido generado por IA puede ser incorrecto.">
            <a:extLst>
              <a:ext uri="{FF2B5EF4-FFF2-40B4-BE49-F238E27FC236}">
                <a16:creationId xmlns:a16="http://schemas.microsoft.com/office/drawing/2014/main" id="{973C8539-226C-FE64-FB37-9D1659BA2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8" b="20054"/>
          <a:stretch>
            <a:fillRect/>
          </a:stretch>
        </p:blipFill>
        <p:spPr>
          <a:xfrm>
            <a:off x="12696441" y="2231641"/>
            <a:ext cx="10941817" cy="6273800"/>
          </a:xfrm>
          <a:prstGeom prst="rect">
            <a:avLst/>
          </a:prstGeom>
        </p:spPr>
      </p:pic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9631FA2-B354-FA21-8F68-3C2EACF19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82" y="2231641"/>
            <a:ext cx="12386059" cy="12386059"/>
          </a:xfrm>
          <a:prstGeom prst="rect">
            <a:avLst/>
          </a:prstGeom>
        </p:spPr>
      </p:pic>
      <p:pic>
        <p:nvPicPr>
          <p:cNvPr id="7" name="Imagen 6" descr="Imagen que contiene texto, tarjeta de presentación&#10;&#10;El contenido generado por IA puede ser incorrecto.">
            <a:extLst>
              <a:ext uri="{FF2B5EF4-FFF2-40B4-BE49-F238E27FC236}">
                <a16:creationId xmlns:a16="http://schemas.microsoft.com/office/drawing/2014/main" id="{65FB5C20-60E6-9A8C-8BC7-60E679EDF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07" b="28674"/>
          <a:stretch>
            <a:fillRect/>
          </a:stretch>
        </p:blipFill>
        <p:spPr>
          <a:xfrm>
            <a:off x="12248599" y="7954770"/>
            <a:ext cx="11376744" cy="497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3769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racia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t>Gracias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603</Words>
  <Application>Microsoft Office PowerPoint</Application>
  <PresentationFormat>Personalizado</PresentationFormat>
  <Paragraphs>48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4" baseType="lpstr">
      <vt:lpstr>Amasis MT Pro</vt:lpstr>
      <vt:lpstr>Aptos</vt:lpstr>
      <vt:lpstr>Arial</vt:lpstr>
      <vt:lpstr>Courier Prime bold</vt:lpstr>
      <vt:lpstr>Courier Prime light</vt:lpstr>
      <vt:lpstr>Helvetica Neue</vt:lpstr>
      <vt:lpstr>Helvetica Neue Medium</vt:lpstr>
      <vt:lpstr>Montserrat</vt:lpstr>
      <vt:lpstr>Montserrat Light</vt:lpstr>
      <vt:lpstr>Montserrat Medium</vt:lpstr>
      <vt:lpstr>Montserrat regular</vt:lpstr>
      <vt:lpstr>Montserrat SemiBold</vt:lpstr>
      <vt:lpstr>30_BasicColor</vt:lpstr>
      <vt:lpstr>Propuesta de Marca</vt:lpstr>
      <vt:lpstr>Sobre Nosotros</vt:lpstr>
      <vt:lpstr>Misión</vt:lpstr>
      <vt:lpstr>Presentación de PowerPoint</vt:lpstr>
      <vt:lpstr>Logo</vt:lpstr>
      <vt:lpstr>Presentación de PowerPoint</vt:lpstr>
      <vt:lpstr>Presentación de PowerPoint</vt:lpstr>
      <vt:lpstr>Referencias</vt:lpstr>
      <vt:lpstr>Fuentes / Caligrafía</vt:lpstr>
      <vt:lpstr>Muestra Publicitaria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Javier Yaya</cp:lastModifiedBy>
  <cp:revision>6</cp:revision>
  <dcterms:modified xsi:type="dcterms:W3CDTF">2025-12-14T20:34:55Z</dcterms:modified>
</cp:coreProperties>
</file>